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7679044a6d433d" /><Relationship Type="http://schemas.openxmlformats.org/officeDocument/2006/relationships/extended-properties" Target="/docProps/app.xml" Id="Rb5b951e332714bfe" /><Relationship Type="http://schemas.openxmlformats.org/officeDocument/2006/relationships/officeDocument" Target="/ppt/presentation.xml" Id="R9ada60f678b24b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d6b2441496423d"/>
  </p:sldMasterIdLst>
  <p:notesMasterIdLst>
    <p:notesMasterId xmlns:r="http://schemas.openxmlformats.org/officeDocument/2006/relationships" r:id="R78750bb827e44482"/>
  </p:notesMasterIdLst>
  <p:sldIdLst>
    <p:sldId xmlns:r="http://schemas.openxmlformats.org/officeDocument/2006/relationships" id="256" r:id="R4dbb6e5de8dd4ec9"/>
    <p:sldId xmlns:r="http://schemas.openxmlformats.org/officeDocument/2006/relationships" id="257" r:id="R28884a0682a649aa"/>
    <p:sldId xmlns:r="http://schemas.openxmlformats.org/officeDocument/2006/relationships" id="258" r:id="Rffc2f8b3b85a4990"/>
    <p:sldId xmlns:r="http://schemas.openxmlformats.org/officeDocument/2006/relationships" id="259" r:id="Rc27e0b21ec3d4ba2"/>
    <p:sldId xmlns:r="http://schemas.openxmlformats.org/officeDocument/2006/relationships" id="260" r:id="R5dfda73df4f44101"/>
    <p:sldId xmlns:r="http://schemas.openxmlformats.org/officeDocument/2006/relationships" id="261" r:id="R84c79e3088014bb7"/>
    <p:sldId xmlns:r="http://schemas.openxmlformats.org/officeDocument/2006/relationships" id="262" r:id="Ra5ee2e7d267748e1"/>
    <p:sldId xmlns:r="http://schemas.openxmlformats.org/officeDocument/2006/relationships" id="263" r:id="Re85455043cdf4750"/>
    <p:sldId xmlns:r="http://schemas.openxmlformats.org/officeDocument/2006/relationships" id="264" r:id="R5a88a626144e44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1a8b66d52b4a08" /><Relationship Type="http://schemas.openxmlformats.org/officeDocument/2006/relationships/slideMaster" Target="/ppt/slideMasters/slideMaster1.xml" Id="R14d6b2441496423d" /><Relationship Type="http://schemas.openxmlformats.org/officeDocument/2006/relationships/notesMaster" Target="/ppt/notesMasters/notesMaster1.xml" Id="R78750bb827e44482" /><Relationship Type="http://schemas.openxmlformats.org/officeDocument/2006/relationships/presProps" Target="/ppt/presProps.xml" Id="R4ba1041fd7ec4e48" /><Relationship Type="http://schemas.openxmlformats.org/officeDocument/2006/relationships/tableStyles" Target="/ppt/tableStyles.xml" Id="R6e97b8f5fb2e4385" /><Relationship Type="http://schemas.openxmlformats.org/officeDocument/2006/relationships/slide" Target="/ppt/slides/slide1.xml" Id="R4dbb6e5de8dd4ec9" /><Relationship Type="http://schemas.openxmlformats.org/officeDocument/2006/relationships/slide" Target="/ppt/slides/slide2.xml" Id="R28884a0682a649aa" /><Relationship Type="http://schemas.openxmlformats.org/officeDocument/2006/relationships/slide" Target="/ppt/slides/slide3.xml" Id="Rffc2f8b3b85a4990" /><Relationship Type="http://schemas.openxmlformats.org/officeDocument/2006/relationships/slide" Target="/ppt/slides/slide4.xml" Id="Rc27e0b21ec3d4ba2" /><Relationship Type="http://schemas.openxmlformats.org/officeDocument/2006/relationships/slide" Target="/ppt/slides/slide5.xml" Id="R5dfda73df4f44101" /><Relationship Type="http://schemas.openxmlformats.org/officeDocument/2006/relationships/slide" Target="/ppt/slides/slide6.xml" Id="R84c79e3088014bb7" /><Relationship Type="http://schemas.openxmlformats.org/officeDocument/2006/relationships/slide" Target="/ppt/slides/slide7.xml" Id="Ra5ee2e7d267748e1" /><Relationship Type="http://schemas.openxmlformats.org/officeDocument/2006/relationships/slide" Target="/ppt/slides/slide8.xml" Id="Re85455043cdf4750" /><Relationship Type="http://schemas.openxmlformats.org/officeDocument/2006/relationships/slide" Target="/ppt/slides/slide9.xml" Id="R5a88a626144e44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5ac47882fb49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fb4dba0415407f" /><Relationship Type="http://schemas.openxmlformats.org/officeDocument/2006/relationships/notesMaster" Target="/ppt/notesMasters/notesMaster1.xml" Id="Rb15109c62e8940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e297bdbff94fc7" /><Relationship Type="http://schemas.openxmlformats.org/officeDocument/2006/relationships/notesMaster" Target="/ppt/notesMasters/notesMaster1.xml" Id="R37bb07f1721347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8e53c565be4323" /><Relationship Type="http://schemas.openxmlformats.org/officeDocument/2006/relationships/notesMaster" Target="/ppt/notesMasters/notesMaster1.xml" Id="R7f49182c094e44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950365e6794e08" /><Relationship Type="http://schemas.openxmlformats.org/officeDocument/2006/relationships/notesMaster" Target="/ppt/notesMasters/notesMaster1.xml" Id="Rf809c58ea1494d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4ae38860714a61" /><Relationship Type="http://schemas.openxmlformats.org/officeDocument/2006/relationships/notesMaster" Target="/ppt/notesMasters/notesMaster1.xml" Id="R4da29deaf86948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434f5d0a20412c" /><Relationship Type="http://schemas.openxmlformats.org/officeDocument/2006/relationships/notesMaster" Target="/ppt/notesMasters/notesMaster1.xml" Id="R2e6b1ec03b3c42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5d6db90b084729" /><Relationship Type="http://schemas.openxmlformats.org/officeDocument/2006/relationships/notesMaster" Target="/ppt/notesMasters/notesMaster1.xml" Id="Rf5daab3b4ed348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a9fe44974444ca" /><Relationship Type="http://schemas.openxmlformats.org/officeDocument/2006/relationships/notesMaster" Target="/ppt/notesMasters/notesMaster1.xml" Id="R08df14153cee45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bf90bb471944c9" /><Relationship Type="http://schemas.openxmlformats.org/officeDocument/2006/relationships/notesMaster" Target="/ppt/notesMasters/notesMaster1.xml" Id="Ref3e3ff00db946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0:00-0:35. Команда Ascension. Концепция: короткие прогулки в Астане с учётом возвращения. Источник требований: hackathon-tasks.pdf, задача НИЦ Smart City, страницы 1-3. Дедлайны взяты из брифа команды, в самом PDF не указаны. Карта декоративная, не географический маршрут.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0:35-1:10. Это конкретный пользовательский сценарий: 45 минут рядом с Mega, начало и возврат в одной точке. Не заявлять исследования рынка, метрики пользователей или подтверждённый спрос. Целевая аудитория: жители и гости города, у которых есть короткое свободное окно между делами.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1:10-1:55. Контракт: туда + визит + назад + резерв не превышают доступное окно. Каждый вариант считается отдельно. 1-3 варианта являются альтернативами, а не автоматическим маршрутом через все места. Время является оценкой, а не гарантией. Метод маршрутизации и допущения должны соответствовать фактической реализации. Числа на этом слайде отсутствуют намеренно: нет измеренного маршрута.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1:55-2:45. Итог data-чата: 930 канонических POI, 933 исходных OSM-объекта полностью сохранены в sourceRecords/osmIds/provenance, raw 1480. Из пяти кандидатных пар три подтверждены и объединены: MEGA, CoffeeStories, Ататюрк. CoffeeLike подтверждён как две разные точки по прямому комментарию OSM-маппера. ШашлычОк неоднозначен, объекты разных зданий оставлены раздельно. Абсолютное отсутствие дублей не заявляется. Категории: 318 кафе, 176 ресторанов, 34 парка, 8 музеев, 1 именованная площадка. Покрытие: EXPO/Mega 52, левый центр 226, исторический центр 256. Снимок данных 19.10.2026 11:22 UTC. Поиск лексический, без embeddings. Vanilla JS, Node API, Cloudflare Worker/Gemini API/gemini-3.8-flash (резерв: OpenAI). Реальный облачный POST подтверждён 200 с generation.mode=llm, моделью gemini-3.8-flash и корпусом 930 POI. Это подтверждает проверенный вызов, а не безошибочность всех будущих ответов. Источник данных https://www.openstreetmap.org/copyright. Правила атрибуции https://osmfoundation.org/wiki/Attribution_Guidelines.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2:45-3:30. Финальный подлинный coffee-results.png предоставлен основной командой после уточнения входа D MEGA. Gasteria и Starbucks около 31 минуты, Лепим и варим около 33 минут с возвращением и резервом. Одно разложение времени нельзя фиксировать для всех кафе. Полный снимок сохранён в deliverables/screenshots, на слайде увеличен верх карточек для читаемости. Время оценено по расстоянию, без построения пешеходного маршрута. Удалённый generation.mode=llm фактически подтверждён на coffee и child.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3:30-4:10. Финальный детский сценарий дал один реальный Сквер, OSM way230358854: 10 минут туда, 15 визит, 10 обратно, 5 резерв, всего 40 минут в бюджете 60. Источник подтверждён полным evidence.png, категория park. Generation.mode=llm подтверждён основной командой на child. Условие не более 10 минут относится к пути до места. Возрастная пригодность, безопасность, пандусы и оборудование не подтверждены и остаются неизвестными. Снимки child.png и evidence.png сохранены в deliverables/screenshots.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4:10-4:50. Показать запрос с поздним временем и требованием розетки. Ожидаемая демонстрация: missing tag не превращается в yes, отсутствие hours не превращается в открыто. Даже известное расписание является записью источника, а не подтверждением в реальном времени. Текст на слайде является ожидаемым типом ответа и не цитирует выполненный запрос.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4:50-5:35. По подтверждению основной команды пройдены 23 из 23 автотестов: поиск и API, а также проверки privacy, лимитов и отбрасывания неподтверждённых утверждений модели. Это не полный прогон 12 сценариев приёмки T01-T12: mapping ещё не передан. Реальный облачный POST 200 с generation.mode=llm подтверждён. Три колонки показывают ограничения и проектные меры, не аудиторское подтверждение privacy-политики. Не обещать отсутствие логирования без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5:35-6:20. Бизнес-гипотеза: полезный сервис для жителей и гостей с коротким свободным окном. Возможные партнёры: кампусы и места размещения гостей, договорённости не заявляются. Улучшить качество полей и времени пути, провести пилот. Не заявлять выручку, пользователей или измеренную длительность маршрутов. URL работает без логина по подтверждению основной команды: https://ascension-smartwalk.azamatbreach.workers.dev . Облачный POST 200 с generation.mode=llm подтверждён. Исходный код опубликован: https://github.com/Azalytical/ascension-smartwalk, публичная структура с src/tests/data/docs/deliverables и README проверена через GitHub 19.10.2026. На защите использовать фактический прогон или его подлинную запись.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141d53a7442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1c1cc277aa4a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3008d378d4b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c81d2cd164c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8adbf647548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b8aecebedf44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8D9381-1289-409F-9D72-21B0B90216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B2AC4CF-FEB6-4375-8D3F-C0EF5D195A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C2FB76-7657-42E8-A049-123F127AB5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83288B-8B94-4CAC-9523-9BFBBBDA7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D6D4F2-A898-4A4A-AE04-0BAADB70CC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00E77F-6C47-4D1C-97E2-B851D1DF1F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93DED1-4FB3-449F-AC61-8E1BE8D746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D1A264-C998-4604-A6DC-24F315F5AE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D97052-9ECD-413E-AEB3-59BBCED122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29EB89-48C9-414D-A1E9-463B2F0C4F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8e91085773444b" /><Relationship Type="http://schemas.openxmlformats.org/officeDocument/2006/relationships/slideLayout" Target="/ppt/slideLayouts/slideLayout1.xml" Id="R81effb2b59604486" /><Relationship Type="http://schemas.openxmlformats.org/officeDocument/2006/relationships/slideLayout" Target="/ppt/slideLayouts/slideLayout2.xml" Id="R346ea8932e534d0d" /><Relationship Type="http://schemas.openxmlformats.org/officeDocument/2006/relationships/slideLayout" Target="/ppt/slideLayouts/slideLayout3.xml" Id="R93fd18dcfad64aa1" /><Relationship Type="http://schemas.openxmlformats.org/officeDocument/2006/relationships/slideLayout" Target="/ppt/slideLayouts/slideLayout4.xml" Id="Rc10d399169bf4332" /><Relationship Type="http://schemas.openxmlformats.org/officeDocument/2006/relationships/slideLayout" Target="/ppt/slideLayouts/slideLayout5.xml" Id="R8e3fc74ccd4f40ea" /><Relationship Type="http://schemas.openxmlformats.org/officeDocument/2006/relationships/slideLayout" Target="/ppt/slideLayouts/slideLayout6.xml" Id="R2c3554f4e9c148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effb2b59604486"/>
    <p:sldLayoutId xmlns:r="http://schemas.openxmlformats.org/officeDocument/2006/relationships" id="2147483650" r:id="R346ea8932e534d0d"/>
    <p:sldLayoutId xmlns:r="http://schemas.openxmlformats.org/officeDocument/2006/relationships" id="2147483651" r:id="R93fd18dcfad64aa1"/>
    <p:sldLayoutId xmlns:r="http://schemas.openxmlformats.org/officeDocument/2006/relationships" id="2147483652" r:id="Rc10d399169bf4332"/>
    <p:sldLayoutId xmlns:r="http://schemas.openxmlformats.org/officeDocument/2006/relationships" id="2147483653" r:id="R8e3fc74ccd4f40ea"/>
    <p:sldLayoutId xmlns:r="http://schemas.openxmlformats.org/officeDocument/2006/relationships" id="2147483654" r:id="R2c3554f4e9c148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e1f1a1cb641c3" /><Relationship Type="http://schemas.openxmlformats.org/officeDocument/2006/relationships/notesSlide" Target="/ppt/notesSlides/notesSlide1.xml" Id="Rc1a2c7e544ad40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6aa62f7e3475e" /><Relationship Type="http://schemas.openxmlformats.org/officeDocument/2006/relationships/notesSlide" Target="/ppt/notesSlides/notesSlide2.xml" Id="R72fa1abac84341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8a87dc01734b02" /><Relationship Type="http://schemas.openxmlformats.org/officeDocument/2006/relationships/notesSlide" Target="/ppt/notesSlides/notesSlide3.xml" Id="R803a66b750a64d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26c72d64ab4d11" /><Relationship Type="http://schemas.openxmlformats.org/officeDocument/2006/relationships/notesSlide" Target="/ppt/notesSlides/notesSlide4.xml" Id="R6d9ab4c3ed4946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d57169c45247c2" /><Relationship Type="http://schemas.openxmlformats.org/officeDocument/2006/relationships/image" Target="/ppt/media/image.jpeg" Id="R8050b6cbaf5144eb" /><Relationship Type="http://schemas.openxmlformats.org/officeDocument/2006/relationships/notesSlide" Target="/ppt/notesSlides/notesSlide5.xml" Id="R7714810401bd44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82a578801c4665" /><Relationship Type="http://schemas.openxmlformats.org/officeDocument/2006/relationships/notesSlide" Target="/ppt/notesSlides/notesSlide6.xml" Id="Rf992bbcb87904b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f24408b8f3467d" /><Relationship Type="http://schemas.openxmlformats.org/officeDocument/2006/relationships/notesSlide" Target="/ppt/notesSlides/notesSlide7.xml" Id="R9a546d1d63174e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c0470e99af4e90" /><Relationship Type="http://schemas.openxmlformats.org/officeDocument/2006/relationships/notesSlide" Target="/ppt/notesSlides/notesSlide8.xml" Id="Re19504c1c1fd48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f4d532360411e" /><Relationship Type="http://schemas.openxmlformats.org/officeDocument/2006/relationships/notesSlide" Target="/ppt/notesSlides/notesSlide9.xml" Id="R082b7db07ec942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499D3A-F63C-4D39-A4EF-558D2AC8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2" name="ASCENSION">
            <a:extLst xmlns:a="http://schemas.openxmlformats.org/drawingml/2006/main">
              <a:ext uri="{FF2B5EF4-FFF2-40B4-BE49-F238E27FC236}">
                <a16:creationId xmlns:a16="http://schemas.microsoft.com/office/drawing/2014/main" id="{81573065-6B41-47FC-B6ED-13BCF161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ASCENSION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594C8BEF-1A81-44B1-BF04-EA8D68D7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E21D4-9433-484E-8FCC-C799AC3E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953" cy="6296025"/>
          </a:xfrm>
          <a:custGeom xmlns:a="http://schemas.openxmlformats.org/drawingml/2006/main">
            <a:pathLst>
              <a:path w="953" h="6296025">
                <a:moveTo>
                  <a:pt x="0" y="0"/>
                </a:moveTo>
                <a:lnTo>
                  <a:pt x="953" y="62960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C129B-5508-4D54-AE1A-A7563359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8875" y="0"/>
            <a:ext cx="953" cy="6296025"/>
          </a:xfrm>
          <a:custGeom xmlns:a="http://schemas.openxmlformats.org/drawingml/2006/main">
            <a:pathLst>
              <a:path w="953" h="6296025">
                <a:moveTo>
                  <a:pt x="0" y="0"/>
                </a:moveTo>
                <a:lnTo>
                  <a:pt x="953" y="62960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45251-6F3D-4A82-B39B-7C3CE328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0"/>
            <a:ext cx="953" cy="6296025"/>
          </a:xfrm>
          <a:custGeom xmlns:a="http://schemas.openxmlformats.org/drawingml/2006/main">
            <a:pathLst>
              <a:path w="953" h="6296025">
                <a:moveTo>
                  <a:pt x="0" y="0"/>
                </a:moveTo>
                <a:lnTo>
                  <a:pt x="953" y="62960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7CEB2-F674-45A8-9CAD-EBE73368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0"/>
            <a:ext cx="953" cy="6296025"/>
          </a:xfrm>
          <a:custGeom xmlns:a="http://schemas.openxmlformats.org/drawingml/2006/main">
            <a:pathLst>
              <a:path w="953" h="6296025">
                <a:moveTo>
                  <a:pt x="0" y="0"/>
                </a:moveTo>
                <a:lnTo>
                  <a:pt x="953" y="62960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A646B-C7AB-4ECF-A547-6482A3E6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8750" y="0"/>
            <a:ext cx="953" cy="6296025"/>
          </a:xfrm>
          <a:custGeom xmlns:a="http://schemas.openxmlformats.org/drawingml/2006/main">
            <a:pathLst>
              <a:path w="953" h="6296025">
                <a:moveTo>
                  <a:pt x="0" y="0"/>
                </a:moveTo>
                <a:lnTo>
                  <a:pt x="953" y="62960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C7F11-2BDE-4CEA-9940-D50D75A9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5375" y="0"/>
            <a:ext cx="953" cy="6296025"/>
          </a:xfrm>
          <a:custGeom xmlns:a="http://schemas.openxmlformats.org/drawingml/2006/main">
            <a:pathLst>
              <a:path w="953" h="6296025">
                <a:moveTo>
                  <a:pt x="0" y="0"/>
                </a:moveTo>
                <a:lnTo>
                  <a:pt x="953" y="62960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B457B-25E2-4550-9047-49F7AB3D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3" cy="6296025"/>
          </a:xfrm>
          <a:custGeom xmlns:a="http://schemas.openxmlformats.org/drawingml/2006/main">
            <a:pathLst>
              <a:path w="953" h="6296025">
                <a:moveTo>
                  <a:pt x="0" y="0"/>
                </a:moveTo>
                <a:lnTo>
                  <a:pt x="953" y="62960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14C3D-A39C-4E17-94E3-593DB6A2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0"/>
            <a:ext cx="5619750" cy="953"/>
          </a:xfrm>
          <a:custGeom xmlns:a="http://schemas.openxmlformats.org/drawingml/2006/main">
            <a:pathLst>
              <a:path w="5619750" h="953">
                <a:moveTo>
                  <a:pt x="0" y="0"/>
                </a:moveTo>
                <a:lnTo>
                  <a:pt x="561975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1A89D-E90B-41D7-A1CF-324DA0F5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9205"/>
            <a:ext cx="5619750" cy="953"/>
          </a:xfrm>
          <a:custGeom xmlns:a="http://schemas.openxmlformats.org/drawingml/2006/main">
            <a:pathLst>
              <a:path w="5619750" h="953">
                <a:moveTo>
                  <a:pt x="0" y="0"/>
                </a:moveTo>
                <a:lnTo>
                  <a:pt x="561975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8D6F1-6C7F-4C70-BD2B-839FE191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8410"/>
            <a:ext cx="5619750" cy="953"/>
          </a:xfrm>
          <a:custGeom xmlns:a="http://schemas.openxmlformats.org/drawingml/2006/main">
            <a:pathLst>
              <a:path w="5619750" h="953">
                <a:moveTo>
                  <a:pt x="0" y="0"/>
                </a:moveTo>
                <a:lnTo>
                  <a:pt x="561975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8C219-36B2-48ED-8589-1B813B07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7615"/>
            <a:ext cx="5619750" cy="953"/>
          </a:xfrm>
          <a:custGeom xmlns:a="http://schemas.openxmlformats.org/drawingml/2006/main">
            <a:pathLst>
              <a:path w="5619750" h="953">
                <a:moveTo>
                  <a:pt x="0" y="0"/>
                </a:moveTo>
                <a:lnTo>
                  <a:pt x="561975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186D5-3DE6-4493-B938-6554A2E8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36820"/>
            <a:ext cx="5619750" cy="953"/>
          </a:xfrm>
          <a:custGeom xmlns:a="http://schemas.openxmlformats.org/drawingml/2006/main">
            <a:pathLst>
              <a:path w="5619750" h="953">
                <a:moveTo>
                  <a:pt x="0" y="0"/>
                </a:moveTo>
                <a:lnTo>
                  <a:pt x="561975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55487D-7FD5-4816-B066-2B00D50F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296025"/>
            <a:ext cx="5619750" cy="953"/>
          </a:xfrm>
          <a:custGeom xmlns:a="http://schemas.openxmlformats.org/drawingml/2006/main">
            <a:pathLst>
              <a:path w="5619750" h="953">
                <a:moveTo>
                  <a:pt x="0" y="0"/>
                </a:moveTo>
                <a:lnTo>
                  <a:pt x="561975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FD079B-535C-43EF-AF65-2902071F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9927"/>
            <a:ext cx="5619750" cy="2518410"/>
          </a:xfrm>
          <a:custGeom xmlns:a="http://schemas.openxmlformats.org/drawingml/2006/main">
            <a:pathLst>
              <a:path w="5619750" h="2518410">
                <a:moveTo>
                  <a:pt x="0" y="0"/>
                </a:moveTo>
                <a:lnTo>
                  <a:pt x="5619750" y="251841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DADD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AB236-93D0-4534-8CA2-9EB60065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620" y="0"/>
            <a:ext cx="1685925" cy="6296025"/>
          </a:xfrm>
          <a:custGeom xmlns:a="http://schemas.openxmlformats.org/drawingml/2006/main">
            <a:pathLst>
              <a:path w="1685925" h="6296025">
                <a:moveTo>
                  <a:pt x="0" y="0"/>
                </a:moveTo>
                <a:lnTo>
                  <a:pt x="1685925" y="6296025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DADD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C787C-59D9-414C-A32E-64881FF0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70324"/>
            <a:ext cx="5619750" cy="4281297"/>
          </a:xfrm>
          <a:custGeom xmlns:a="http://schemas.openxmlformats.org/drawingml/2006/main">
            <a:pathLst>
              <a:path w="5619750" h="4281297">
                <a:moveTo>
                  <a:pt x="0" y="4281297"/>
                </a:moveTo>
                <a:lnTo>
                  <a:pt x="5619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DADD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91CA0-2E29-4B26-B178-2EA33496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4668" y="0"/>
            <a:ext cx="393383" cy="6296025"/>
          </a:xfrm>
          <a:custGeom xmlns:a="http://schemas.openxmlformats.org/drawingml/2006/main">
            <a:pathLst>
              <a:path w="393383" h="6296025">
                <a:moveTo>
                  <a:pt x="0" y="0"/>
                </a:moveTo>
                <a:lnTo>
                  <a:pt x="393383" y="6296025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DADD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97657-AFC5-41A4-800D-F69A1009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ild with AI 2026">
            <a:extLst xmlns:a="http://schemas.openxmlformats.org/drawingml/2006/main">
              <a:ext uri="{FF2B5EF4-FFF2-40B4-BE49-F238E27FC236}">
                <a16:creationId xmlns:a16="http://schemas.microsoft.com/office/drawing/2014/main" id="{809642C3-4B5C-459E-8BB7-92FFB255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575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Build with AI 2026</a:t>
            </a:r>
          </a:p>
        </p:txBody>
      </p:sp>
      <p:sp>
        <p:nvSpPr>
          <p:cNvPr id="23" name="Успею&#10;вернуться">
            <a:extLst xmlns:a="http://schemas.openxmlformats.org/drawingml/2006/main">
              <a:ext uri="{FF2B5EF4-FFF2-40B4-BE49-F238E27FC236}">
                <a16:creationId xmlns:a16="http://schemas.microsoft.com/office/drawing/2014/main" id="{EAFFE8F2-158E-4917-84E0-18C33831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9065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6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6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6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6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6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6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6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6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6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6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660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Успею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6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660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вернуться</a:t>
            </a:r>
          </a:p>
        </p:txBody>
      </p:sp>
      <p:sp>
        <p:nvSpPr>
          <p:cNvPr id="24" name="Городская прогулка&#10;в вашем окне вре">
            <a:extLst xmlns:a="http://schemas.openxmlformats.org/drawingml/2006/main">
              <a:ext uri="{FF2B5EF4-FFF2-40B4-BE49-F238E27FC236}">
                <a16:creationId xmlns:a16="http://schemas.microsoft.com/office/drawing/2014/main" id="{39924B4E-9386-406D-8EDD-28F964BC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52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550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Городская прогулка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550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в вашем окне времени</a:t>
            </a:r>
          </a:p>
        </p:txBody>
      </p:sp>
      <p:sp>
        <p:nvSpPr>
          <p:cNvPr id="25" name="Астана   /   Smart City   /   22.10">
            <a:extLst xmlns:a="http://schemas.openxmlformats.org/drawingml/2006/main">
              <a:ext uri="{FF2B5EF4-FFF2-40B4-BE49-F238E27FC236}">
                <a16:creationId xmlns:a16="http://schemas.microsoft.com/office/drawing/2014/main" id="{8CB65BCD-5978-4F5E-A011-09BB464D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Астана   /   Smart City   /   22.10.2026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B7D17A-BF83-4B5E-A2A8-3E8A9F2D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48088"/>
            <a:ext cx="1257300" cy="953"/>
          </a:xfrm>
          <a:custGeom xmlns:a="http://schemas.openxmlformats.org/drawingml/2006/main">
            <a:pathLst>
              <a:path w="1257300" h="953">
                <a:moveTo>
                  <a:pt x="0" y="0"/>
                </a:moveTo>
                <a:lnTo>
                  <a:pt x="12573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1D8B8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18C6E0-6789-4DFD-B2B1-02CB4B62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33625"/>
            <a:ext cx="953" cy="1414463"/>
          </a:xfrm>
          <a:custGeom xmlns:a="http://schemas.openxmlformats.org/drawingml/2006/main">
            <a:pathLst>
              <a:path w="953" h="1414463">
                <a:moveTo>
                  <a:pt x="0" y="1414463"/>
                </a:moveTo>
                <a:lnTo>
                  <a:pt x="9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1D8B8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FB519C-DF7F-44BE-878A-48B1756A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33625"/>
            <a:ext cx="2357438" cy="953"/>
          </a:xfrm>
          <a:custGeom xmlns:a="http://schemas.openxmlformats.org/drawingml/2006/main">
            <a:pathLst>
              <a:path w="2357438" h="953">
                <a:moveTo>
                  <a:pt x="0" y="0"/>
                </a:moveTo>
                <a:lnTo>
                  <a:pt x="2357438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1D8B8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103CA4-9978-48AC-A638-C7DA9DCE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8988" y="2333625"/>
            <a:ext cx="953" cy="2357438"/>
          </a:xfrm>
          <a:custGeom xmlns:a="http://schemas.openxmlformats.org/drawingml/2006/main">
            <a:pathLst>
              <a:path w="953" h="2357438">
                <a:moveTo>
                  <a:pt x="0" y="0"/>
                </a:moveTo>
                <a:lnTo>
                  <a:pt x="953" y="2357438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1D8B8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402B85-D51F-4104-9E5F-18B12A36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4691063"/>
            <a:ext cx="1571625" cy="953"/>
          </a:xfrm>
          <a:custGeom xmlns:a="http://schemas.openxmlformats.org/drawingml/2006/main">
            <a:pathLst>
              <a:path w="1571625" h="953">
                <a:moveTo>
                  <a:pt x="1571625" y="0"/>
                </a:moveTo>
                <a:lnTo>
                  <a:pt x="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1D8B8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523387-26A0-4C68-A39D-BCFC5895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3748088"/>
            <a:ext cx="953" cy="942975"/>
          </a:xfrm>
          <a:custGeom xmlns:a="http://schemas.openxmlformats.org/drawingml/2006/main">
            <a:pathLst>
              <a:path w="953" h="942975">
                <a:moveTo>
                  <a:pt x="0" y="942975"/>
                </a:moveTo>
                <a:lnTo>
                  <a:pt x="9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1D8B8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4BDA01-9566-4CD6-911F-AEFEDC63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48088"/>
            <a:ext cx="2043113" cy="953"/>
          </a:xfrm>
          <a:custGeom xmlns:a="http://schemas.openxmlformats.org/drawingml/2006/main">
            <a:pathLst>
              <a:path w="2043113" h="953">
                <a:moveTo>
                  <a:pt x="2043113" y="0"/>
                </a:moveTo>
                <a:lnTo>
                  <a:pt x="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1D8B8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755AF1-939B-41B6-A24A-59C5D9B6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43313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F785C7-BB8D-4D92-ACF8-1E402B90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4213" y="2228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65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4BCC77-F233-40FB-B863-E4E69DA1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263" y="4605338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66CD48-1311-4404-A0C1-8A82D905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04825"/>
            <a:ext cx="1085850" cy="1085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C1B090-58D1-4EF7-B8A6-E5AF7B8E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828675"/>
            <a:ext cx="323850" cy="953"/>
          </a:xfrm>
          <a:custGeom xmlns:a="http://schemas.openxmlformats.org/drawingml/2006/main">
            <a:pathLst>
              <a:path w="323850" h="953">
                <a:moveTo>
                  <a:pt x="0" y="0"/>
                </a:moveTo>
                <a:lnTo>
                  <a:pt x="32385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3F0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FB6DFB-C95C-4F21-BDDC-56644076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828675"/>
            <a:ext cx="953" cy="381000"/>
          </a:xfrm>
          <a:custGeom xmlns:a="http://schemas.openxmlformats.org/drawingml/2006/main">
            <a:pathLst>
              <a:path w="953" h="381000">
                <a:moveTo>
                  <a:pt x="0" y="0"/>
                </a:moveTo>
                <a:lnTo>
                  <a:pt x="953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3F0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634A17-1BA9-4FBB-8E9B-C829E60B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1209675"/>
            <a:ext cx="419100" cy="953"/>
          </a:xfrm>
          <a:custGeom xmlns:a="http://schemas.openxmlformats.org/drawingml/2006/main">
            <a:pathLst>
              <a:path w="419100" h="953">
                <a:moveTo>
                  <a:pt x="419100" y="0"/>
                </a:moveTo>
                <a:lnTo>
                  <a:pt x="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3F0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A7022B-74CC-4711-9283-ACCB73C6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110490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104775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3F0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CA6E9A-171C-41EB-9416-FC7FCFD1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1209675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0"/>
                </a:moveTo>
                <a:lnTo>
                  <a:pt x="104775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F3F0E7"/>
            </a:solidFill>
            <a:prstDash val="solid"/>
          </a:ln>
        </p:spPr>
      </p:sp>
      <p:sp>
        <p:nvSpPr>
          <p:cNvPr id="42" name="Место. Визит. Возвращение.">
            <a:extLst xmlns:a="http://schemas.openxmlformats.org/drawingml/2006/main">
              <a:ext uri="{FF2B5EF4-FFF2-40B4-BE49-F238E27FC236}">
                <a16:creationId xmlns:a16="http://schemas.microsoft.com/office/drawing/2014/main" id="{8C375CF9-9874-4E61-8A99-605E8ED1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14950"/>
            <a:ext cx="4572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10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Место. Визит. Возвращение.</a:t>
            </a:r>
          </a:p>
        </p:txBody>
      </p:sp>
      <p:sp>
        <p:nvSpPr>
          <p:cNvPr id="43" name="Схематическая иллюстрация">
            <a:extLst xmlns:a="http://schemas.openxmlformats.org/drawingml/2006/main">
              <a:ext uri="{FF2B5EF4-FFF2-40B4-BE49-F238E27FC236}">
                <a16:creationId xmlns:a16="http://schemas.microsoft.com/office/drawing/2014/main" id="{5AE115F6-4A61-4543-9BBB-5D9AB432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102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Схематическая иллюстрация</a:t>
            </a:r>
          </a:p>
        </p:txBody>
      </p:sp>
    </p:spTree>
    <p:extLst>
      <p:ext uri="{BB962C8B-B14F-4D97-AF65-F5344CB8AC3E}">
        <p14:creationId xmlns:p14="http://schemas.microsoft.com/office/powerpoint/2010/main" val="14204484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Прогулка между делами">
            <a:extLst xmlns:a="http://schemas.openxmlformats.org/drawingml/2006/main">
              <a:ext uri="{FF2B5EF4-FFF2-40B4-BE49-F238E27FC236}">
                <a16:creationId xmlns:a16="http://schemas.microsoft.com/office/drawing/2014/main" id="{D6A97B20-C62D-4CFC-83F7-77680F27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Прогулка между делами</a:t>
            </a:r>
          </a:p>
        </p:txBody>
      </p:sp>
      <p:sp>
        <p:nvSpPr>
          <p:cNvPr id="2" name="Человек выбирает место и одновремен">
            <a:extLst xmlns:a="http://schemas.openxmlformats.org/drawingml/2006/main">
              <a:ext uri="{FF2B5EF4-FFF2-40B4-BE49-F238E27FC236}">
                <a16:creationId xmlns:a16="http://schemas.microsoft.com/office/drawing/2014/main" id="{B3832453-9222-415D-BAE4-B4D7638E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Человек выбирает место и одновременно считает, успеет ли вернуться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DC91C-9EC3-4678-AD56-75D38422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4" name="ASCENSION">
            <a:extLst xmlns:a="http://schemas.openxmlformats.org/drawingml/2006/main">
              <a:ext uri="{FF2B5EF4-FFF2-40B4-BE49-F238E27FC236}">
                <a16:creationId xmlns:a16="http://schemas.microsoft.com/office/drawing/2014/main" id="{7260D3F0-D49C-443F-95E3-CA89BB4C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ASCENSION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27CFEF41-3FD9-432A-A0C8-C1349E7D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" name="45">
            <a:extLst xmlns:a="http://schemas.openxmlformats.org/drawingml/2006/main">
              <a:ext uri="{FF2B5EF4-FFF2-40B4-BE49-F238E27FC236}">
                <a16:creationId xmlns:a16="http://schemas.microsoft.com/office/drawing/2014/main" id="{EAC29A6F-450A-4C57-BFFD-079FC6D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352675"/>
            <a:ext cx="3714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8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8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8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8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8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8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8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8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8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8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8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11850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45</a:t>
            </a:r>
          </a:p>
        </p:txBody>
      </p:sp>
      <p:sp>
        <p:nvSpPr>
          <p:cNvPr id="7" name="минут до следующего дела">
            <a:extLst xmlns:a="http://schemas.openxmlformats.org/drawingml/2006/main">
              <a:ext uri="{FF2B5EF4-FFF2-40B4-BE49-F238E27FC236}">
                <a16:creationId xmlns:a16="http://schemas.microsoft.com/office/drawing/2014/main" id="{CFEC8689-6598-4D75-AA92-50DB7EE9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3667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минут до следующего дела</a:t>
            </a:r>
          </a:p>
        </p:txBody>
      </p:sp>
      <p:sp>
        <p:nvSpPr>
          <p:cNvPr id="8" name="Где я">
            <a:extLst xmlns:a="http://schemas.openxmlformats.org/drawingml/2006/main">
              <a:ext uri="{FF2B5EF4-FFF2-40B4-BE49-F238E27FC236}">
                <a16:creationId xmlns:a16="http://schemas.microsoft.com/office/drawing/2014/main" id="{C1A98ADB-F202-4179-B77A-FE504B6F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907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Где я</a:t>
            </a:r>
          </a:p>
        </p:txBody>
      </p:sp>
      <p:sp>
        <p:nvSpPr>
          <p:cNvPr id="9" name="У Mega Silk Way">
            <a:extLst xmlns:a="http://schemas.openxmlformats.org/drawingml/2006/main">
              <a:ext uri="{FF2B5EF4-FFF2-40B4-BE49-F238E27FC236}">
                <a16:creationId xmlns:a16="http://schemas.microsoft.com/office/drawing/2014/main" id="{1C2BA805-81B1-49B6-8994-23D5A846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24150"/>
            <a:ext cx="6238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У Mega Silk 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9A173-C0A8-4995-8BB1-711F0181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76600"/>
            <a:ext cx="6191250" cy="953"/>
          </a:xfrm>
          <a:custGeom xmlns:a="http://schemas.openxmlformats.org/drawingml/2006/main">
            <a:pathLst>
              <a:path w="6191250" h="953">
                <a:moveTo>
                  <a:pt x="0" y="0"/>
                </a:moveTo>
                <a:lnTo>
                  <a:pt x="619125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8CF"/>
            </a:solidFill>
            <a:prstDash val="solid"/>
          </a:ln>
        </p:spPr>
      </p:sp>
      <p:sp>
        <p:nvSpPr>
          <p:cNvPr id="11" name="Чего хочу">
            <a:extLst xmlns:a="http://schemas.openxmlformats.org/drawingml/2006/main">
              <a:ext uri="{FF2B5EF4-FFF2-40B4-BE49-F238E27FC236}">
                <a16:creationId xmlns:a16="http://schemas.microsoft.com/office/drawing/2014/main" id="{0F2ABBC0-B85C-41D3-9598-FC557A38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575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Чего хочу</a:t>
            </a:r>
          </a:p>
        </p:txBody>
      </p:sp>
      <p:sp>
        <p:nvSpPr>
          <p:cNvPr id="12" name="Выпить кофе рядом">
            <a:extLst xmlns:a="http://schemas.openxmlformats.org/drawingml/2006/main">
              <a:ext uri="{FF2B5EF4-FFF2-40B4-BE49-F238E27FC236}">
                <a16:creationId xmlns:a16="http://schemas.microsoft.com/office/drawing/2014/main" id="{EE0CC8ED-92B2-4CA3-8834-4F1D2E40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90950"/>
            <a:ext cx="6238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Выпить кофе рядом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D17E8-C489-4133-8777-CB42EDC3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43400"/>
            <a:ext cx="6191250" cy="953"/>
          </a:xfrm>
          <a:custGeom xmlns:a="http://schemas.openxmlformats.org/drawingml/2006/main">
            <a:pathLst>
              <a:path w="6191250" h="953">
                <a:moveTo>
                  <a:pt x="0" y="0"/>
                </a:moveTo>
                <a:lnTo>
                  <a:pt x="619125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FD8CF"/>
            </a:solidFill>
            <a:prstDash val="solid"/>
          </a:ln>
        </p:spPr>
      </p:sp>
      <p:sp>
        <p:nvSpPr>
          <p:cNvPr id="14" name="Что ограничивает">
            <a:extLst xmlns:a="http://schemas.openxmlformats.org/drawingml/2006/main">
              <a:ext uri="{FF2B5EF4-FFF2-40B4-BE49-F238E27FC236}">
                <a16:creationId xmlns:a16="http://schemas.microsoft.com/office/drawing/2014/main" id="{73251484-5877-4954-A119-34C37416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524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Что ограничивает</a:t>
            </a:r>
          </a:p>
        </p:txBody>
      </p:sp>
      <p:sp>
        <p:nvSpPr>
          <p:cNvPr id="15" name="Вернуться к исходной точке">
            <a:extLst xmlns:a="http://schemas.openxmlformats.org/drawingml/2006/main">
              <a:ext uri="{FF2B5EF4-FFF2-40B4-BE49-F238E27FC236}">
                <a16:creationId xmlns:a16="http://schemas.microsoft.com/office/drawing/2014/main" id="{56F81C02-8DB2-4296-9BC9-4A6E02A6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57750"/>
            <a:ext cx="6238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325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Вернуться к исходной точке</a:t>
            </a:r>
          </a:p>
        </p:txBody>
      </p:sp>
      <p:sp>
        <p:nvSpPr>
          <p:cNvPr id="16" name="Сценарий, заданный командой. Это не">
            <a:extLst xmlns:a="http://schemas.openxmlformats.org/drawingml/2006/main">
              <a:ext uri="{FF2B5EF4-FFF2-40B4-BE49-F238E27FC236}">
                <a16:creationId xmlns:a16="http://schemas.microsoft.com/office/drawing/2014/main" id="{FEB8DBF9-ACC7-4BD8-9E00-00FDA3FB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Сценарий, заданный командой. Это не статистика пользователей.</a:t>
            </a:r>
          </a:p>
        </p:txBody>
      </p:sp>
    </p:spTree>
    <p:extLst>
      <p:ext uri="{BB962C8B-B14F-4D97-AF65-F5344CB8AC3E}">
        <p14:creationId xmlns:p14="http://schemas.microsoft.com/office/powerpoint/2010/main" val="1814960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Весь маршрут в одном бюджете">
            <a:extLst xmlns:a="http://schemas.openxmlformats.org/drawingml/2006/main">
              <a:ext uri="{FF2B5EF4-FFF2-40B4-BE49-F238E27FC236}">
                <a16:creationId xmlns:a16="http://schemas.microsoft.com/office/drawing/2014/main" id="{A839D15D-8457-4D41-98A8-3A3B2A5F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Весь маршрут в одном бюджете</a:t>
            </a:r>
          </a:p>
        </p:txBody>
      </p:sp>
      <p:sp>
        <p:nvSpPr>
          <p:cNvPr id="2" name="Правило продукта: время на возвраще">
            <a:extLst xmlns:a="http://schemas.openxmlformats.org/drawingml/2006/main">
              <a:ext uri="{FF2B5EF4-FFF2-40B4-BE49-F238E27FC236}">
                <a16:creationId xmlns:a16="http://schemas.microsoft.com/office/drawing/2014/main" id="{7F1CAC00-41D7-4878-8616-8A2E6C66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Правило продукта: время на возвращение входит в рекомендацию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71717-19F5-4348-BC93-BBF3AA0F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4" name="ASCENSION">
            <a:extLst xmlns:a="http://schemas.openxmlformats.org/drawingml/2006/main">
              <a:ext uri="{FF2B5EF4-FFF2-40B4-BE49-F238E27FC236}">
                <a16:creationId xmlns:a16="http://schemas.microsoft.com/office/drawing/2014/main" id="{8F5D601E-4714-4227-93D1-A2C4E2C1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ASCENSION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8742624F-619E-4C6B-A6E0-23B4BC1C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3B207-DECA-4DDC-95B9-82EF9774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Дорога туда">
            <a:extLst xmlns:a="http://schemas.openxmlformats.org/drawingml/2006/main">
              <a:ext uri="{FF2B5EF4-FFF2-40B4-BE49-F238E27FC236}">
                <a16:creationId xmlns:a16="http://schemas.microsoft.com/office/drawing/2014/main" id="{330B7DE3-C903-464C-B971-391E1490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Дорога туда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E2661-FA3A-4C25-B623-8E91BA8C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Визит">
            <a:extLst xmlns:a="http://schemas.openxmlformats.org/drawingml/2006/main">
              <a:ext uri="{FF2B5EF4-FFF2-40B4-BE49-F238E27FC236}">
                <a16:creationId xmlns:a16="http://schemas.microsoft.com/office/drawing/2014/main" id="{B7167058-D83E-4EB6-9BB3-246B6D95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52825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Визит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5C6CF-7284-41BF-9564-5AA917EF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Обратный путь">
            <a:extLst xmlns:a="http://schemas.openxmlformats.org/drawingml/2006/main">
              <a:ext uri="{FF2B5EF4-FFF2-40B4-BE49-F238E27FC236}">
                <a16:creationId xmlns:a16="http://schemas.microsoft.com/office/drawing/2014/main" id="{3FB0EFC6-43C9-4F41-9186-EC9F433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52825"/>
            <a:ext cx="230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Обратный путь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64B1C-BE18-45C9-9929-34628423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5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Резерв">
            <a:extLst xmlns:a="http://schemas.openxmlformats.org/drawingml/2006/main">
              <a:ext uri="{FF2B5EF4-FFF2-40B4-BE49-F238E27FC236}">
                <a16:creationId xmlns:a16="http://schemas.microsoft.com/office/drawing/2014/main" id="{0BF1E062-8FA7-44F3-8105-AC65E8E0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528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19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Резерв</a:t>
            </a:r>
          </a:p>
        </p:txBody>
      </p:sp>
      <p:sp>
        <p:nvSpPr>
          <p:cNvPr id="14" name="Сумма ≤ доступное время">
            <a:extLst xmlns:a="http://schemas.openxmlformats.org/drawingml/2006/main">
              <a:ext uri="{FF2B5EF4-FFF2-40B4-BE49-F238E27FC236}">
                <a16:creationId xmlns:a16="http://schemas.microsoft.com/office/drawing/2014/main" id="{ED935391-0D81-4302-83C7-672826D4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360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Сумма ≤ доступное время</a:t>
            </a:r>
          </a:p>
        </p:txBody>
      </p:sp>
      <p:sp>
        <p:nvSpPr>
          <p:cNvPr id="15" name="1–3 альтернативы с объяснением, дей">
            <a:extLst xmlns:a="http://schemas.openxmlformats.org/drawingml/2006/main">
              <a:ext uri="{FF2B5EF4-FFF2-40B4-BE49-F238E27FC236}">
                <a16:creationId xmlns:a16="http://schemas.microsoft.com/office/drawing/2014/main" id="{9A604D51-C258-46F3-8340-A323AC86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75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1–3 альтернативы с объяснением, действием и источником.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75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Оценка времени зависит от допущений и не гарантирует прибытие.</a:t>
            </a:r>
          </a:p>
        </p:txBody>
      </p:sp>
    </p:spTree>
    <p:extLst>
      <p:ext uri="{BB962C8B-B14F-4D97-AF65-F5344CB8AC3E}">
        <p14:creationId xmlns:p14="http://schemas.microsoft.com/office/powerpoint/2010/main" val="19277930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Реальные места и поиск по запросу">
            <a:extLst xmlns:a="http://schemas.openxmlformats.org/drawingml/2006/main">
              <a:ext uri="{FF2B5EF4-FFF2-40B4-BE49-F238E27FC236}">
                <a16:creationId xmlns:a16="http://schemas.microsoft.com/office/drawing/2014/main" id="{0A1B1800-063E-40C8-9F13-3922C490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Реальные места и поиск по запросу</a:t>
            </a:r>
          </a:p>
        </p:txBody>
      </p:sp>
      <p:sp>
        <p:nvSpPr>
          <p:cNvPr id="2" name="930 канонических POI после проверки">
            <a:extLst xmlns:a="http://schemas.openxmlformats.org/drawingml/2006/main">
              <a:ext uri="{FF2B5EF4-FFF2-40B4-BE49-F238E27FC236}">
                <a16:creationId xmlns:a16="http://schemas.microsoft.com/office/drawing/2014/main" id="{0A9C4D32-D141-4DFD-8C50-9BA3DC66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930 канонических POI после проверки дублей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19B3E-9C95-4763-BF46-A5AAE45B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4" name="ASCENSION">
            <a:extLst xmlns:a="http://schemas.openxmlformats.org/drawingml/2006/main">
              <a:ext uri="{FF2B5EF4-FFF2-40B4-BE49-F238E27FC236}">
                <a16:creationId xmlns:a16="http://schemas.microsoft.com/office/drawing/2014/main" id="{24017F4E-07D8-4269-B62A-1902CA25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ASCENSION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0AC3E551-4E87-4A85-B197-714AAD30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AF6B8284-DCB9-4432-B2CC-07D7A69F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BB465-381F-4601-BD1B-6100F23F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476500" cy="953"/>
          </a:xfrm>
          <a:custGeom xmlns:a="http://schemas.openxmlformats.org/drawingml/2006/main">
            <a:pathLst>
              <a:path w="2476500" h="953">
                <a:moveTo>
                  <a:pt x="0" y="0"/>
                </a:moveTo>
                <a:lnTo>
                  <a:pt x="24765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D8B82"/>
            </a:solidFill>
            <a:prstDash val="solid"/>
          </a:ln>
        </p:spPr>
      </p:sp>
      <p:sp>
        <p:nvSpPr>
          <p:cNvPr id="8" name="OSM">
            <a:extLst xmlns:a="http://schemas.openxmlformats.org/drawingml/2006/main">
              <a:ext uri="{FF2B5EF4-FFF2-40B4-BE49-F238E27FC236}">
                <a16:creationId xmlns:a16="http://schemas.microsoft.com/office/drawing/2014/main" id="{67B5D4B2-9647-4E11-A7A4-758941A3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514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OSM</a:t>
            </a:r>
          </a:p>
        </p:txBody>
      </p:sp>
      <p:sp>
        <p:nvSpPr>
          <p:cNvPr id="9" name="Автоматический сбор&#10;точек интереса ">
            <a:extLst xmlns:a="http://schemas.openxmlformats.org/drawingml/2006/main">
              <a:ext uri="{FF2B5EF4-FFF2-40B4-BE49-F238E27FC236}">
                <a16:creationId xmlns:a16="http://schemas.microsoft.com/office/drawing/2014/main" id="{0BFC2C2C-682A-44D3-8BC6-EFC7432E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51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Автоматический сбор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точек интереса Астаны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65502936-7A48-4E8C-9BDB-3BC1C414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24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1F608-AFA2-4990-B8FB-8A6097FA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2476500" cy="953"/>
          </a:xfrm>
          <a:custGeom xmlns:a="http://schemas.openxmlformats.org/drawingml/2006/main">
            <a:pathLst>
              <a:path w="2476500" h="953">
                <a:moveTo>
                  <a:pt x="0" y="0"/>
                </a:moveTo>
                <a:lnTo>
                  <a:pt x="24765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D8B82"/>
            </a:solidFill>
            <a:prstDash val="solid"/>
          </a:ln>
        </p:spPr>
      </p:sp>
      <p:sp>
        <p:nvSpPr>
          <p:cNvPr id="12" name="Поиск">
            <a:extLst xmlns:a="http://schemas.openxmlformats.org/drawingml/2006/main">
              <a:ext uri="{FF2B5EF4-FFF2-40B4-BE49-F238E27FC236}">
                <a16:creationId xmlns:a16="http://schemas.microsoft.com/office/drawing/2014/main" id="{360DAE15-1C3B-4FA5-8A2D-E6ECAEB8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86150"/>
            <a:ext cx="2514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Поиск</a:t>
            </a:r>
          </a:p>
        </p:txBody>
      </p:sp>
      <p:sp>
        <p:nvSpPr>
          <p:cNvPr id="13" name="Лексический поиск&#10;по запросу и лока">
            <a:extLst xmlns:a="http://schemas.openxmlformats.org/drawingml/2006/main">
              <a:ext uri="{FF2B5EF4-FFF2-40B4-BE49-F238E27FC236}">
                <a16:creationId xmlns:a16="http://schemas.microsoft.com/office/drawing/2014/main" id="{22B842AE-8983-4D5B-BBD2-15EC1229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91000"/>
            <a:ext cx="251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Лексический поиск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по запросу и локации</a:t>
            </a:r>
          </a:p>
        </p:txBody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980E2A20-09C6-4BED-84F7-68243ABB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24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A6287-ADB5-4781-8577-D50121E1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2476500" cy="953"/>
          </a:xfrm>
          <a:custGeom xmlns:a="http://schemas.openxmlformats.org/drawingml/2006/main">
            <a:pathLst>
              <a:path w="2476500" h="953">
                <a:moveTo>
                  <a:pt x="0" y="0"/>
                </a:moveTo>
                <a:lnTo>
                  <a:pt x="24765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D8B82"/>
            </a:solidFill>
            <a:prstDash val="solid"/>
          </a:ln>
        </p:spPr>
      </p:sp>
      <p:sp>
        <p:nvSpPr>
          <p:cNvPr id="16" name="Ограничения">
            <a:extLst xmlns:a="http://schemas.openxmlformats.org/drawingml/2006/main">
              <a:ext uri="{FF2B5EF4-FFF2-40B4-BE49-F238E27FC236}">
                <a16:creationId xmlns:a16="http://schemas.microsoft.com/office/drawing/2014/main" id="{62FBCEAF-32E2-4853-9E59-7B9864F6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86150"/>
            <a:ext cx="2514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Ограничения</a:t>
            </a:r>
          </a:p>
        </p:txBody>
      </p:sp>
      <p:sp>
        <p:nvSpPr>
          <p:cNvPr id="17" name="Время, возврат,&#10;категории и часы">
            <a:extLst xmlns:a="http://schemas.openxmlformats.org/drawingml/2006/main">
              <a:ext uri="{FF2B5EF4-FFF2-40B4-BE49-F238E27FC236}">
                <a16:creationId xmlns:a16="http://schemas.microsoft.com/office/drawing/2014/main" id="{4F6E77E8-0552-4875-A74A-2356358A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91000"/>
            <a:ext cx="251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Время, возврат,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категории и часы</a:t>
            </a:r>
          </a:p>
        </p:txBody>
      </p:sp>
      <p:sp>
        <p:nvSpPr>
          <p:cNvPr id="18" name="04">
            <a:extLst xmlns:a="http://schemas.openxmlformats.org/drawingml/2006/main">
              <a:ext uri="{FF2B5EF4-FFF2-40B4-BE49-F238E27FC236}">
                <a16:creationId xmlns:a16="http://schemas.microsoft.com/office/drawing/2014/main" id="{B51A69F6-05C0-4CE1-B045-F52965C9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24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3375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4247AC-86C8-4A78-8122-9C96E4E2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0400"/>
            <a:ext cx="2476500" cy="953"/>
          </a:xfrm>
          <a:custGeom xmlns:a="http://schemas.openxmlformats.org/drawingml/2006/main">
            <a:pathLst>
              <a:path w="2476500" h="953">
                <a:moveTo>
                  <a:pt x="0" y="0"/>
                </a:moveTo>
                <a:lnTo>
                  <a:pt x="24765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D8B82"/>
            </a:solidFill>
            <a:prstDash val="solid"/>
          </a:ln>
        </p:spPr>
      </p:sp>
      <p:sp>
        <p:nvSpPr>
          <p:cNvPr id="20" name="Ответ">
            <a:extLst xmlns:a="http://schemas.openxmlformats.org/drawingml/2006/main">
              <a:ext uri="{FF2B5EF4-FFF2-40B4-BE49-F238E27FC236}">
                <a16:creationId xmlns:a16="http://schemas.microsoft.com/office/drawing/2014/main" id="{4D68A49E-F49F-4C30-ADB8-0EE65979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86150"/>
            <a:ext cx="2514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40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Ответ</a:t>
            </a:r>
          </a:p>
        </p:txBody>
      </p:sp>
      <p:sp>
        <p:nvSpPr>
          <p:cNvPr id="21" name="Модель объясняет&#10;найденные варианты">
            <a:extLst xmlns:a="http://schemas.openxmlformats.org/drawingml/2006/main">
              <a:ext uri="{FF2B5EF4-FFF2-40B4-BE49-F238E27FC236}">
                <a16:creationId xmlns:a16="http://schemas.microsoft.com/office/drawing/2014/main" id="{64D4C6F7-D563-46A8-82A5-E7300809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91000"/>
            <a:ext cx="251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Модель объясняет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найденные варианты</a:t>
            </a:r>
          </a:p>
        </p:txBody>
      </p:sp>
      <p:sp>
        <p:nvSpPr>
          <p:cNvPr id="22" name="OSM, снимок 19.10.2026 11:22 UTC. В">
            <a:extLst xmlns:a="http://schemas.openxmlformats.org/drawingml/2006/main">
              <a:ext uri="{FF2B5EF4-FFF2-40B4-BE49-F238E27FC236}">
                <a16:creationId xmlns:a16="http://schemas.microsoft.com/office/drawing/2014/main" id="{A005631C-C3E3-42DC-9AA7-E2EB08D2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OSM, снимок 19.10.2026 11:22 UTC. Все исходные источники сохранены.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Облачный ответ модели по найденным POI проверен.</a:t>
            </a:r>
          </a:p>
        </p:txBody>
      </p:sp>
    </p:spTree>
    <p:extLst>
      <p:ext uri="{BB962C8B-B14F-4D97-AF65-F5344CB8AC3E}">
        <p14:creationId xmlns:p14="http://schemas.microsoft.com/office/powerpoint/2010/main" val="18776155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Кофе за 45 минут с возвращением">
            <a:extLst xmlns:a="http://schemas.openxmlformats.org/drawingml/2006/main">
              <a:ext uri="{FF2B5EF4-FFF2-40B4-BE49-F238E27FC236}">
                <a16:creationId xmlns:a16="http://schemas.microsoft.com/office/drawing/2014/main" id="{ECD6651B-E48E-4C1D-9720-3BD74CF2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Кофе за 45 минут с возвращением</a:t>
            </a:r>
          </a:p>
        </p:txBody>
      </p:sp>
      <p:sp>
        <p:nvSpPr>
          <p:cNvPr id="2" name="Подлинный снимок финального браузер">
            <a:extLst xmlns:a="http://schemas.openxmlformats.org/drawingml/2006/main">
              <a:ext uri="{FF2B5EF4-FFF2-40B4-BE49-F238E27FC236}">
                <a16:creationId xmlns:a16="http://schemas.microsoft.com/office/drawing/2014/main" id="{B057DA72-A629-4095-BEC2-C5324A05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Подлинный снимок финального браузерного прогона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50F7E-4ADA-4738-A6A2-04FC3193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4" name="ASCENSION">
            <a:extLst xmlns:a="http://schemas.openxmlformats.org/drawingml/2006/main">
              <a:ext uri="{FF2B5EF4-FFF2-40B4-BE49-F238E27FC236}">
                <a16:creationId xmlns:a16="http://schemas.microsoft.com/office/drawing/2014/main" id="{B9E45C33-B03F-44DE-A48A-7258ED1C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ASCENSION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542F20EA-DAA4-499A-AB0A-31E8C327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62E1D-A5B4-48E7-A3E1-9E6B04F32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0b6cbaf5144eb"/>
          <a:srcRect xmlns:a="http://schemas.openxmlformats.org/drawingml/2006/main" l="3000" t="3500" r="3500" b="53000"/>
          <a:stretch xmlns:a="http://schemas.openxmlformats.org/drawingml/2006/main"/>
        </p:blipFill>
        <p:spPr>
          <a:xfrm xmlns:a="http://schemas.openxmlformats.org/drawingml/2006/main">
            <a:off x="609600" y="2276475"/>
            <a:ext cx="10972800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Gasteria и Starbucks — около 31 мин">
            <a:extLst xmlns:a="http://schemas.openxmlformats.org/drawingml/2006/main">
              <a:ext uri="{FF2B5EF4-FFF2-40B4-BE49-F238E27FC236}">
                <a16:creationId xmlns:a16="http://schemas.microsoft.com/office/drawing/2014/main" id="{81670489-C9DB-48C0-B0E2-5E70CD51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Gasteria и Starbucks — около 31 минуты. «Лепим и варим» — около 33.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Время оценено по расстоянию, без построения пешеходного маршрута.</a:t>
            </a:r>
          </a:p>
        </p:txBody>
      </p:sp>
    </p:spTree>
    <p:extLst>
      <p:ext uri="{BB962C8B-B14F-4D97-AF65-F5344CB8AC3E}">
        <p14:creationId xmlns:p14="http://schemas.microsoft.com/office/powerpoint/2010/main" val="7105311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С ребёнком, не дальше 10 минут">
            <a:extLst xmlns:a="http://schemas.openxmlformats.org/drawingml/2006/main">
              <a:ext uri="{FF2B5EF4-FFF2-40B4-BE49-F238E27FC236}">
                <a16:creationId xmlns:a16="http://schemas.microsoft.com/office/drawing/2014/main" id="{B723BD15-47C2-47B1-B6A6-C7399F02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С ребёнком, не дальше 10 минут</a:t>
            </a:r>
          </a:p>
        </p:txBody>
      </p:sp>
      <p:sp>
        <p:nvSpPr>
          <p:cNvPr id="2" name="Общее окно для визита и возвращения">
            <a:extLst xmlns:a="http://schemas.openxmlformats.org/drawingml/2006/main">
              <a:ext uri="{FF2B5EF4-FFF2-40B4-BE49-F238E27FC236}">
                <a16:creationId xmlns:a16="http://schemas.microsoft.com/office/drawing/2014/main" id="{73F05147-789C-479B-9CC1-F8E342CF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Общее окно для визита и возвращения — 60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E80F8-FA02-48FF-BAD8-67626639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4" name="ASCENSION">
            <a:extLst xmlns:a="http://schemas.openxmlformats.org/drawingml/2006/main">
              <a:ext uri="{FF2B5EF4-FFF2-40B4-BE49-F238E27FC236}">
                <a16:creationId xmlns:a16="http://schemas.microsoft.com/office/drawing/2014/main" id="{A46DD7CD-F87C-4CDB-AC52-07057C60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ASCENSION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3E204531-9EC4-4FDA-B7EB-DAC7052A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6013D266-A692-4378-BCAF-93A5100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19350"/>
            <a:ext cx="4000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11250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7" name="минут пешком до места">
            <a:extLst xmlns:a="http://schemas.openxmlformats.org/drawingml/2006/main">
              <a:ext uri="{FF2B5EF4-FFF2-40B4-BE49-F238E27FC236}">
                <a16:creationId xmlns:a16="http://schemas.microsoft.com/office/drawing/2014/main" id="{FB72A7EA-703A-4C50-8201-00996F91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143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175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минут пешком до места</a:t>
            </a:r>
          </a:p>
        </p:txBody>
      </p:sp>
      <p:sp>
        <p:nvSpPr>
          <p:cNvPr id="8" name="«Сквер»: 40 из 60 минут&#10;10 + 15 + 1">
            <a:extLst xmlns:a="http://schemas.openxmlformats.org/drawingml/2006/main">
              <a:ext uri="{FF2B5EF4-FFF2-40B4-BE49-F238E27FC236}">
                <a16:creationId xmlns:a16="http://schemas.microsoft.com/office/drawing/2014/main" id="{6F35B403-DE2B-47F2-B906-28F442D3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4143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1800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«Сквер»: 40 из 60 минут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1800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10 + 15 + 10 + 5</a:t>
            </a:r>
          </a:p>
        </p:txBody>
      </p:sp>
      <p:sp>
        <p:nvSpPr>
          <p:cNvPr id="9" name="Жёсткое условие">
            <a:extLst xmlns:a="http://schemas.openxmlformats.org/drawingml/2006/main">
              <a:ext uri="{FF2B5EF4-FFF2-40B4-BE49-F238E27FC236}">
                <a16:creationId xmlns:a16="http://schemas.microsoft.com/office/drawing/2014/main" id="{817A82D4-E5E8-4A65-AB72-5BE50B26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003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Жёсткое условие</a:t>
            </a:r>
          </a:p>
        </p:txBody>
      </p:sp>
      <p:sp>
        <p:nvSpPr>
          <p:cNvPr id="10" name="Каждый кандидат укладывается&#10;в зада">
            <a:extLst xmlns:a="http://schemas.openxmlformats.org/drawingml/2006/main">
              <a:ext uri="{FF2B5EF4-FFF2-40B4-BE49-F238E27FC236}">
                <a16:creationId xmlns:a16="http://schemas.microsoft.com/office/drawing/2014/main" id="{3CA610DC-AEED-4884-B61F-2C532579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762250"/>
            <a:ext cx="590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025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Каждый кандидат укладывается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025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в заданное время до места</a:t>
            </a:r>
          </a:p>
        </p:txBody>
      </p:sp>
      <p:sp>
        <p:nvSpPr>
          <p:cNvPr id="11" name="Общий бюджет">
            <a:extLst xmlns:a="http://schemas.openxmlformats.org/drawingml/2006/main">
              <a:ext uri="{FF2B5EF4-FFF2-40B4-BE49-F238E27FC236}">
                <a16:creationId xmlns:a16="http://schemas.microsoft.com/office/drawing/2014/main" id="{C3A95116-EBFD-4291-8036-F39889E5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55282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Общий бюджет</a:t>
            </a:r>
          </a:p>
        </p:txBody>
      </p:sp>
      <p:sp>
        <p:nvSpPr>
          <p:cNvPr id="12" name="Визит, возврат и резерв&#10;тоже должны">
            <a:extLst xmlns:a="http://schemas.openxmlformats.org/drawingml/2006/main">
              <a:ext uri="{FF2B5EF4-FFF2-40B4-BE49-F238E27FC236}">
                <a16:creationId xmlns:a16="http://schemas.microsoft.com/office/drawing/2014/main" id="{E7E69EF4-1A36-4402-8055-FFC02B7E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14775"/>
            <a:ext cx="590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Визит, возврат и резерв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тоже должны поместиться</a:t>
            </a:r>
          </a:p>
        </p:txBody>
      </p:sp>
      <p:sp>
        <p:nvSpPr>
          <p:cNvPr id="13" name="Неизвестные свойства">
            <a:extLst xmlns:a="http://schemas.openxmlformats.org/drawingml/2006/main">
              <a:ext uri="{FF2B5EF4-FFF2-40B4-BE49-F238E27FC236}">
                <a16:creationId xmlns:a16="http://schemas.microsoft.com/office/drawing/2014/main" id="{4811DC60-2166-4A8B-9852-07547248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7053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5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Неизвестные свойства</a:t>
            </a:r>
          </a:p>
        </p:txBody>
      </p:sp>
      <p:sp>
        <p:nvSpPr>
          <p:cNvPr id="14" name="Возраст, доступность и удобства&#10;нел">
            <a:extLst xmlns:a="http://schemas.openxmlformats.org/drawingml/2006/main">
              <a:ext uri="{FF2B5EF4-FFF2-40B4-BE49-F238E27FC236}">
                <a16:creationId xmlns:a16="http://schemas.microsoft.com/office/drawing/2014/main" id="{0D118D8D-BC8A-4B80-AB53-0CF14AB8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67300"/>
            <a:ext cx="590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Возраст, доступность и удобства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нельзя придумывать</a:t>
            </a:r>
          </a:p>
        </p:txBody>
      </p:sp>
    </p:spTree>
    <p:extLst>
      <p:ext uri="{BB962C8B-B14F-4D97-AF65-F5344CB8AC3E}">
        <p14:creationId xmlns:p14="http://schemas.microsoft.com/office/powerpoint/2010/main" val="9431836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3D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Кофе поздно. Розетка неизвестна">
            <a:extLst xmlns:a="http://schemas.openxmlformats.org/drawingml/2006/main">
              <a:ext uri="{FF2B5EF4-FFF2-40B4-BE49-F238E27FC236}">
                <a16:creationId xmlns:a16="http://schemas.microsoft.com/office/drawing/2014/main" id="{14A1F8F5-7CF9-4F27-9043-50AF3744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450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450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450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450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450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450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450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450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450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pPr>
            <a:r>
              <a:rPr sz="3450" b="1" i="0">
                <a:solidFill>
                  <a:srgbClr val="F3F0E7"/>
                </a:solidFill>
                <a:latin typeface="Segoe UI"/>
                <a:ea typeface="Segoe UI"/>
                <a:cs typeface="Segoe UI"/>
              </a:rPr>
              <a:t>Кофе поздно. Розетка неизвестна</a:t>
            </a:r>
          </a:p>
        </p:txBody>
      </p:sp>
      <p:sp>
        <p:nvSpPr>
          <p:cNvPr id="2" name="Демонстрационный сценарий 3">
            <a:extLst xmlns:a="http://schemas.openxmlformats.org/drawingml/2006/main">
              <a:ext uri="{FF2B5EF4-FFF2-40B4-BE49-F238E27FC236}">
                <a16:creationId xmlns:a16="http://schemas.microsoft.com/office/drawing/2014/main" id="{2DF9A0E0-B689-4FCA-AFEB-9F0FDD86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CDE4DB"/>
                </a:solidFill>
                <a:latin typeface="Segoe UI"/>
                <a:ea typeface="Segoe UI"/>
                <a:cs typeface="Segoe UI"/>
              </a:rPr>
              <a:t>Демонстрационный сценарий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02531-F3F0-46B3-AC02-4A8F7BAA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38635D"/>
            </a:solidFill>
            <a:prstDash val="solid"/>
          </a:ln>
        </p:spPr>
      </p:sp>
      <p:sp>
        <p:nvSpPr>
          <p:cNvPr id="4" name="ASCENSION">
            <a:extLst xmlns:a="http://schemas.openxmlformats.org/drawingml/2006/main">
              <a:ext uri="{FF2B5EF4-FFF2-40B4-BE49-F238E27FC236}">
                <a16:creationId xmlns:a16="http://schemas.microsoft.com/office/drawing/2014/main" id="{4B4A0D48-2A14-45B0-8191-0A01A25B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pPr>
            <a:r>
              <a:rPr sz="1050" b="1" i="0">
                <a:solidFill>
                  <a:srgbClr val="CDE4DB"/>
                </a:solidFill>
                <a:latin typeface="Segoe UI"/>
                <a:ea typeface="Segoe UI"/>
                <a:cs typeface="Segoe UI"/>
              </a:rPr>
              <a:t>ASCENSION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391CAFCC-B832-4DC8-A3C4-2F4283EA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35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35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35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35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35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35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35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35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35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CDE4DB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Запрос">
            <a:extLst xmlns:a="http://schemas.openxmlformats.org/drawingml/2006/main">
              <a:ext uri="{FF2B5EF4-FFF2-40B4-BE49-F238E27FC236}">
                <a16:creationId xmlns:a16="http://schemas.microsoft.com/office/drawing/2014/main" id="{419A8840-D69F-4C08-B06E-32444CD3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pPr>
            <a:r>
              <a: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rPr>
              <a:t>Запрос</a:t>
            </a:r>
          </a:p>
        </p:txBody>
      </p:sp>
      <p:sp>
        <p:nvSpPr>
          <p:cNvPr id="7" name="«Кафе с розеткой&#10;поздно вечером, ря">
            <a:extLst xmlns:a="http://schemas.openxmlformats.org/drawingml/2006/main">
              <a:ext uri="{FF2B5EF4-FFF2-40B4-BE49-F238E27FC236}">
                <a16:creationId xmlns:a16="http://schemas.microsoft.com/office/drawing/2014/main" id="{0E831932-60F1-4EBE-B1DD-DB8BAF54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pPr>
            <a:r>
              <a:rPr sz="2775" b="1" i="0">
                <a:solidFill>
                  <a:srgbClr val="F3F0E7"/>
                </a:solidFill>
                <a:latin typeface="Segoe UI"/>
                <a:ea typeface="Segoe UI"/>
                <a:cs typeface="Segoe UI"/>
              </a:rPr>
              <a:t>«Кафе с розеткой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7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pPr>
            <a:r>
              <a:rPr sz="2775" b="1" i="0">
                <a:solidFill>
                  <a:srgbClr val="F3F0E7"/>
                </a:solidFill>
                <a:latin typeface="Segoe UI"/>
                <a:ea typeface="Segoe UI"/>
                <a:cs typeface="Segoe UI"/>
              </a:rPr>
              <a:t>поздно вечером, рядом»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C6818-A3CE-472C-B63F-C57BDF2E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953" cy="3171825"/>
          </a:xfrm>
          <a:custGeom xmlns:a="http://schemas.openxmlformats.org/drawingml/2006/main">
            <a:pathLst>
              <a:path w="953" h="3171825">
                <a:moveTo>
                  <a:pt x="0" y="0"/>
                </a:moveTo>
                <a:lnTo>
                  <a:pt x="953" y="31718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27C72"/>
            </a:solidFill>
            <a:prstDash val="solid"/>
          </a:ln>
        </p:spPr>
      </p:sp>
      <p:sp>
        <p:nvSpPr>
          <p:cNvPr id="9" name="Честный тип ответа">
            <a:extLst xmlns:a="http://schemas.openxmlformats.org/drawingml/2006/main">
              <a:ext uri="{FF2B5EF4-FFF2-40B4-BE49-F238E27FC236}">
                <a16:creationId xmlns:a16="http://schemas.microsoft.com/office/drawing/2014/main" id="{43FA6854-5D81-46D5-AFAE-ED013AE1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pPr>
            <a:r>
              <a:rPr sz="1725" b="0" i="0">
                <a:solidFill>
                  <a:srgbClr val="CDE4DB"/>
                </a:solidFill>
                <a:latin typeface="Segoe UI"/>
                <a:ea typeface="Segoe UI"/>
                <a:cs typeface="Segoe UI"/>
              </a:rPr>
              <a:t>Честный тип ответа</a:t>
            </a:r>
          </a:p>
        </p:txBody>
      </p:sp>
      <p:sp>
        <p:nvSpPr>
          <p:cNvPr id="10" name="«Нет подтверждённых вариантов&#10;с роз">
            <a:extLst xmlns:a="http://schemas.openxmlformats.org/drawingml/2006/main">
              <a:ext uri="{FF2B5EF4-FFF2-40B4-BE49-F238E27FC236}">
                <a16:creationId xmlns:a16="http://schemas.microsoft.com/office/drawing/2014/main" id="{16017EC5-A990-49AD-B549-C36E358D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62275"/>
            <a:ext cx="50482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pPr>
            <a:r>
              <a: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rPr>
              <a:t>«Нет подтверждённых вариантов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pPr>
            <a:r>
              <a: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rPr>
              <a:t>с розеткой. Наличие розетки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defRPr>
            </a:pPr>
            <a:r>
              <a:rPr sz="2475" b="1" i="0">
                <a:solidFill>
                  <a:srgbClr val="F3F0E7"/>
                </a:solidFill>
                <a:latin typeface="Segoe UI"/>
                <a:ea typeface="Segoe UI"/>
                <a:cs typeface="Segoe UI"/>
              </a:rPr>
              <a:t>и часы нужно проверить»</a:t>
            </a:r>
          </a:p>
        </p:txBody>
      </p:sp>
      <p:sp>
        <p:nvSpPr>
          <p:cNvPr id="11" name="Отсутствующий тег сохраняет статус ">
            <a:extLst xmlns:a="http://schemas.openxmlformats.org/drawingml/2006/main">
              <a:ext uri="{FF2B5EF4-FFF2-40B4-BE49-F238E27FC236}">
                <a16:creationId xmlns:a16="http://schemas.microsoft.com/office/drawing/2014/main" id="{83634E52-43C2-4583-8A35-B3A6A3AB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pPr>
            <a:r>
              <a:rPr sz="2025" b="0" i="0">
                <a:solidFill>
                  <a:srgbClr val="CDE4DB"/>
                </a:solidFill>
                <a:latin typeface="Segoe UI"/>
                <a:ea typeface="Segoe UI"/>
                <a:cs typeface="Segoe UI"/>
              </a:rPr>
              <a:t>Отсутствующий тег сохраняет статус «неизвестно».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CDE4DB"/>
                </a:solidFill>
                <a:latin typeface="Segoe UI"/>
                <a:ea typeface="Segoe UI"/>
                <a:cs typeface="Segoe UI"/>
              </a:defRPr>
            </a:pPr>
            <a:r>
              <a:rPr sz="2025" b="0" i="0">
                <a:solidFill>
                  <a:srgbClr val="CDE4DB"/>
                </a:solidFill>
                <a:latin typeface="Segoe UI"/>
                <a:ea typeface="Segoe UI"/>
                <a:cs typeface="Segoe UI"/>
              </a:rPr>
              <a:t>Система не обещает «открыто сейчас» без данных.</a:t>
            </a:r>
          </a:p>
        </p:txBody>
      </p:sp>
    </p:spTree>
    <p:extLst>
      <p:ext uri="{BB962C8B-B14F-4D97-AF65-F5344CB8AC3E}">
        <p14:creationId xmlns:p14="http://schemas.microsoft.com/office/powerpoint/2010/main" val="7822063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Проверки и границы доверия">
            <a:extLst xmlns:a="http://schemas.openxmlformats.org/drawingml/2006/main">
              <a:ext uri="{FF2B5EF4-FFF2-40B4-BE49-F238E27FC236}">
                <a16:creationId xmlns:a16="http://schemas.microsoft.com/office/drawing/2014/main" id="{38F7EAE5-E6BF-468B-94C8-7D49B12B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Проверки и границы доверия</a:t>
            </a:r>
          </a:p>
        </p:txBody>
      </p:sp>
      <p:sp>
        <p:nvSpPr>
          <p:cNvPr id="2" name="23 из 23 автотестов пройдено. Облач">
            <a:extLst xmlns:a="http://schemas.openxmlformats.org/drawingml/2006/main">
              <a:ext uri="{FF2B5EF4-FFF2-40B4-BE49-F238E27FC236}">
                <a16:creationId xmlns:a16="http://schemas.microsoft.com/office/drawing/2014/main" id="{20B3EC57-7E61-48FE-95F8-A64DEE68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23 из 23 автотестов пройдено. Облачный ответ модели проверен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C98F6-DC53-4DB0-B489-D4B93EB3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4" name="ASCENSION">
            <a:extLst xmlns:a="http://schemas.openxmlformats.org/drawingml/2006/main">
              <a:ext uri="{FF2B5EF4-FFF2-40B4-BE49-F238E27FC236}">
                <a16:creationId xmlns:a16="http://schemas.microsoft.com/office/drawing/2014/main" id="{B64E3C84-8B45-4FA7-9660-32CA431C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ASCENSION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14FE6769-8F61-42CA-94FE-F6BCBA74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6" name="Данные">
            <a:extLst xmlns:a="http://schemas.openxmlformats.org/drawingml/2006/main">
              <a:ext uri="{FF2B5EF4-FFF2-40B4-BE49-F238E27FC236}">
                <a16:creationId xmlns:a16="http://schemas.microsoft.com/office/drawing/2014/main" id="{02B89FE7-791C-42B3-828C-E5F704D3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335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Данные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A3CD8-0314-4FED-910D-52D41AAE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3314700" cy="953"/>
          </a:xfrm>
          <a:custGeom xmlns:a="http://schemas.openxmlformats.org/drawingml/2006/main">
            <a:pathLst>
              <a:path w="3314700" h="953">
                <a:moveTo>
                  <a:pt x="0" y="0"/>
                </a:moveTo>
                <a:lnTo>
                  <a:pt x="33147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D8B82"/>
            </a:solidFill>
            <a:prstDash val="solid"/>
          </a:ln>
        </p:spPr>
      </p:sp>
      <p:sp>
        <p:nvSpPr>
          <p:cNvPr id="8" name="OSM может быть неполным&#10;или устарев">
            <a:extLst xmlns:a="http://schemas.openxmlformats.org/drawingml/2006/main">
              <a:ext uri="{FF2B5EF4-FFF2-40B4-BE49-F238E27FC236}">
                <a16:creationId xmlns:a16="http://schemas.microsoft.com/office/drawing/2014/main" id="{6A266B69-B32C-496F-ADBD-3E8E1809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35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OSM может быть неполным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или устаревшим</a:t>
            </a:r>
          </a:p>
        </p:txBody>
      </p:sp>
      <p:sp>
        <p:nvSpPr>
          <p:cNvPr id="9" name="Источник и неизвестные&#10;поля рядом с">
            <a:extLst xmlns:a="http://schemas.openxmlformats.org/drawingml/2006/main">
              <a:ext uri="{FF2B5EF4-FFF2-40B4-BE49-F238E27FC236}">
                <a16:creationId xmlns:a16="http://schemas.microsoft.com/office/drawing/2014/main" id="{7E5D9F0D-A1D9-4D70-995F-C2BCC177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335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Источник и неизвестные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поля рядом с советом</a:t>
            </a:r>
          </a:p>
        </p:txBody>
      </p:sp>
      <p:sp>
        <p:nvSpPr>
          <p:cNvPr id="10" name="Время">
            <a:extLst xmlns:a="http://schemas.openxmlformats.org/drawingml/2006/main">
              <a:ext uri="{FF2B5EF4-FFF2-40B4-BE49-F238E27FC236}">
                <a16:creationId xmlns:a16="http://schemas.microsoft.com/office/drawing/2014/main" id="{E1B79A5E-FCE9-4FA2-A279-D6884AA1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35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Время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6ED09-CAE6-4275-BAC0-18980945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314700" cy="953"/>
          </a:xfrm>
          <a:custGeom xmlns:a="http://schemas.openxmlformats.org/drawingml/2006/main">
            <a:pathLst>
              <a:path w="3314700" h="953">
                <a:moveTo>
                  <a:pt x="0" y="0"/>
                </a:moveTo>
                <a:lnTo>
                  <a:pt x="33147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D8B82"/>
            </a:solidFill>
            <a:prstDash val="solid"/>
          </a:ln>
        </p:spPr>
      </p:sp>
      <p:sp>
        <p:nvSpPr>
          <p:cNvPr id="12" name="Оценка по расстоянию&#10;без пешего мар">
            <a:extLst xmlns:a="http://schemas.openxmlformats.org/drawingml/2006/main">
              <a:ext uri="{FF2B5EF4-FFF2-40B4-BE49-F238E27FC236}">
                <a16:creationId xmlns:a16="http://schemas.microsoft.com/office/drawing/2014/main" id="{BDA5CCB8-876F-44E3-9F92-311FAE02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76625"/>
            <a:ext cx="335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Оценка по расстоянию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без пешего маршрута</a:t>
            </a:r>
          </a:p>
        </p:txBody>
      </p:sp>
      <p:sp>
        <p:nvSpPr>
          <p:cNvPr id="13" name="Допущения, резерв&#10;и понятный отказ">
            <a:extLst xmlns:a="http://schemas.openxmlformats.org/drawingml/2006/main">
              <a:ext uri="{FF2B5EF4-FFF2-40B4-BE49-F238E27FC236}">
                <a16:creationId xmlns:a16="http://schemas.microsoft.com/office/drawing/2014/main" id="{4D6A3815-2B75-4833-88CB-7CF96868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29175"/>
            <a:ext cx="335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Допущения, резерв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и понятный отказ</a:t>
            </a:r>
          </a:p>
        </p:txBody>
      </p:sp>
      <p:sp>
        <p:nvSpPr>
          <p:cNvPr id="14" name="Локация">
            <a:extLst xmlns:a="http://schemas.openxmlformats.org/drawingml/2006/main">
              <a:ext uri="{FF2B5EF4-FFF2-40B4-BE49-F238E27FC236}">
                <a16:creationId xmlns:a16="http://schemas.microsoft.com/office/drawing/2014/main" id="{D9367636-CF5A-4C2F-B69B-FDEAF46C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335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5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Локация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4654B-8F3F-42BB-8412-69AF27E4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71825"/>
            <a:ext cx="3314700" cy="953"/>
          </a:xfrm>
          <a:custGeom xmlns:a="http://schemas.openxmlformats.org/drawingml/2006/main">
            <a:pathLst>
              <a:path w="3314700" h="953">
                <a:moveTo>
                  <a:pt x="0" y="0"/>
                </a:moveTo>
                <a:lnTo>
                  <a:pt x="33147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D8B82"/>
            </a:solidFill>
            <a:prstDash val="solid"/>
          </a:ln>
        </p:spPr>
      </p:sp>
      <p:sp>
        <p:nvSpPr>
          <p:cNvPr id="16" name="Координаты раскрывают&#10;местоположени">
            <a:extLst xmlns:a="http://schemas.openxmlformats.org/drawingml/2006/main">
              <a:ext uri="{FF2B5EF4-FFF2-40B4-BE49-F238E27FC236}">
                <a16:creationId xmlns:a16="http://schemas.microsoft.com/office/drawing/2014/main" id="{F91F680E-BAB2-46D9-91F3-53845E7D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335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Координаты раскрывают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025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местоположение</a:t>
            </a:r>
          </a:p>
        </p:txBody>
      </p:sp>
      <p:sp>
        <p:nvSpPr>
          <p:cNvPr id="17" name="Проектная мера:&#10;минимум хранения">
            <a:extLst xmlns:a="http://schemas.openxmlformats.org/drawingml/2006/main">
              <a:ext uri="{FF2B5EF4-FFF2-40B4-BE49-F238E27FC236}">
                <a16:creationId xmlns:a16="http://schemas.microsoft.com/office/drawing/2014/main" id="{B35A0FE6-2F20-4C94-BE20-033704C0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29175"/>
            <a:ext cx="335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Проектная мера: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1950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минимум хранения</a:t>
            </a:r>
          </a:p>
        </p:txBody>
      </p:sp>
    </p:spTree>
    <p:extLst>
      <p:ext uri="{BB962C8B-B14F-4D97-AF65-F5344CB8AC3E}">
        <p14:creationId xmlns:p14="http://schemas.microsoft.com/office/powerpoint/2010/main" val="9980196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Сначала Астана и короткие прогулки">
            <a:extLst xmlns:a="http://schemas.openxmlformats.org/drawingml/2006/main">
              <a:ext uri="{FF2B5EF4-FFF2-40B4-BE49-F238E27FC236}">
                <a16:creationId xmlns:a16="http://schemas.microsoft.com/office/drawing/2014/main" id="{D5F7D6E7-F4ED-49C6-808F-4231E08F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34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Сначала Астана и короткие прогулки</a:t>
            </a:r>
          </a:p>
        </p:txBody>
      </p:sp>
      <p:sp>
        <p:nvSpPr>
          <p:cNvPr id="2" name="Ценность продукта: понятный выбор в">
            <a:extLst xmlns:a="http://schemas.openxmlformats.org/drawingml/2006/main">
              <a:ext uri="{FF2B5EF4-FFF2-40B4-BE49-F238E27FC236}">
                <a16:creationId xmlns:a16="http://schemas.microsoft.com/office/drawing/2014/main" id="{091EFF00-1AB5-4210-962D-1F45EDCC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80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Ценность продукта: понятный выбор внутри реального окна времени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4A5D7-D583-4891-8CEA-E009B6A3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972800" cy="953"/>
          </a:xfrm>
          <a:custGeom xmlns:a="http://schemas.openxmlformats.org/drawingml/2006/main">
            <a:pathLst>
              <a:path w="10972800" h="953">
                <a:moveTo>
                  <a:pt x="0" y="0"/>
                </a:moveTo>
                <a:lnTo>
                  <a:pt x="10972800" y="95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FD8CF"/>
            </a:solidFill>
            <a:prstDash val="solid"/>
          </a:ln>
        </p:spPr>
      </p:sp>
      <p:sp>
        <p:nvSpPr>
          <p:cNvPr id="4" name="ASCENSION">
            <a:extLst xmlns:a="http://schemas.openxmlformats.org/drawingml/2006/main">
              <a:ext uri="{FF2B5EF4-FFF2-40B4-BE49-F238E27FC236}">
                <a16:creationId xmlns:a16="http://schemas.microsoft.com/office/drawing/2014/main" id="{8A4478DC-E3DD-4E48-B16C-87C1AF7B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050" b="1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ASCENSION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832F7FDC-2B4E-422A-A7B4-C94456DC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198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350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Для кого">
            <a:extLst xmlns:a="http://schemas.openxmlformats.org/drawingml/2006/main">
              <a:ext uri="{FF2B5EF4-FFF2-40B4-BE49-F238E27FC236}">
                <a16:creationId xmlns:a16="http://schemas.microsoft.com/office/drawing/2014/main" id="{E846EC30-364D-4275-8003-C598BA96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Для кого</a:t>
            </a:r>
          </a:p>
        </p:txBody>
      </p:sp>
      <p:sp>
        <p:nvSpPr>
          <p:cNvPr id="7" name="Жители и гости города&#10;между делами">
            <a:extLst xmlns:a="http://schemas.openxmlformats.org/drawingml/2006/main">
              <a:ext uri="{FF2B5EF4-FFF2-40B4-BE49-F238E27FC236}">
                <a16:creationId xmlns:a16="http://schemas.microsoft.com/office/drawing/2014/main" id="{E5B026C5-2E2B-4300-AA5C-AF05E32C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762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6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6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6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6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6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6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6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6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6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625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Жители и гости города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625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625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между делами</a:t>
            </a:r>
          </a:p>
        </p:txBody>
      </p:sp>
      <p:sp>
        <p:nvSpPr>
          <p:cNvPr id="8" name="Первая география">
            <a:extLst xmlns:a="http://schemas.openxmlformats.org/drawingml/2006/main">
              <a:ext uri="{FF2B5EF4-FFF2-40B4-BE49-F238E27FC236}">
                <a16:creationId xmlns:a16="http://schemas.microsoft.com/office/drawing/2014/main" id="{89918903-9247-47B3-9E20-0ECC7BEE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725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Первая география</a:t>
            </a:r>
          </a:p>
        </p:txBody>
      </p:sp>
      <p:sp>
        <p:nvSpPr>
          <p:cNvPr id="9" name="EXPO, Mega и центр Астаны">
            <a:extLst xmlns:a="http://schemas.openxmlformats.org/drawingml/2006/main">
              <a:ext uri="{FF2B5EF4-FFF2-40B4-BE49-F238E27FC236}">
                <a16:creationId xmlns:a16="http://schemas.microsoft.com/office/drawing/2014/main" id="{D0178C86-D582-4CC6-9B70-4DD45F54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250" b="1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EXPO, Mega и центр Астаны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CEF4F-1F91-4B08-BE20-AF576D29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86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65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Демо">
            <a:extLst xmlns:a="http://schemas.openxmlformats.org/drawingml/2006/main">
              <a:ext uri="{FF2B5EF4-FFF2-40B4-BE49-F238E27FC236}">
                <a16:creationId xmlns:a16="http://schemas.microsoft.com/office/drawing/2014/main" id="{A9646107-97E4-40AC-93E3-B150F70A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33625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Демо</a:t>
            </a:r>
          </a:p>
        </p:txBody>
      </p:sp>
      <p:sp>
        <p:nvSpPr>
          <p:cNvPr id="12" name="Три сценария и проверка&#10;каждой реко">
            <a:extLst xmlns:a="http://schemas.openxmlformats.org/drawingml/2006/main">
              <a:ext uri="{FF2B5EF4-FFF2-40B4-BE49-F238E27FC236}">
                <a16:creationId xmlns:a16="http://schemas.microsoft.com/office/drawing/2014/main" id="{362B859F-17F0-4FBF-B574-57E3178D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Три сценария и проверка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каждой рекомендации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8F712-B19B-4CA3-B0DA-EC003529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480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Качество">
            <a:extLst xmlns:a="http://schemas.openxmlformats.org/drawingml/2006/main">
              <a:ext uri="{FF2B5EF4-FFF2-40B4-BE49-F238E27FC236}">
                <a16:creationId xmlns:a16="http://schemas.microsoft.com/office/drawing/2014/main" id="{89F279E6-F753-4769-BFA6-BF217197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95675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Качество</a:t>
            </a:r>
          </a:p>
        </p:txBody>
      </p:sp>
      <p:sp>
        <p:nvSpPr>
          <p:cNvPr id="15" name="Больше проверенных полей&#10;и точнее п">
            <a:extLst xmlns:a="http://schemas.openxmlformats.org/drawingml/2006/main">
              <a:ext uri="{FF2B5EF4-FFF2-40B4-BE49-F238E27FC236}">
                <a16:creationId xmlns:a16="http://schemas.microsoft.com/office/drawing/2014/main" id="{7B5FBB2F-A9F9-4D52-8CAB-374F7CF3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Больше проверенных полей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и точнее пешеходный путь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01C02-9E67-4BDF-A62E-E0AC493C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0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8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Пилот">
            <a:extLst xmlns:a="http://schemas.openxmlformats.org/drawingml/2006/main">
              <a:ext uri="{FF2B5EF4-FFF2-40B4-BE49-F238E27FC236}">
                <a16:creationId xmlns:a16="http://schemas.microsoft.com/office/drawing/2014/main" id="{6AFFDC72-458D-4C7B-AC00-6C7FBF8D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57725"/>
            <a:ext cx="461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defRPr>
            </a:pPr>
            <a:r>
              <a:rPr sz="1725" b="1" i="0">
                <a:solidFill>
                  <a:srgbClr val="1D8B82"/>
                </a:solidFill>
                <a:latin typeface="Segoe UI"/>
                <a:ea typeface="Segoe UI"/>
                <a:cs typeface="Segoe UI"/>
              </a:rPr>
              <a:t>Пилот</a:t>
            </a:r>
          </a:p>
        </p:txBody>
      </p:sp>
      <p:sp>
        <p:nvSpPr>
          <p:cNvPr id="18" name="Проверка спроса с кампусами&#10;и места">
            <a:extLst xmlns:a="http://schemas.openxmlformats.org/drawingml/2006/main">
              <a:ext uri="{FF2B5EF4-FFF2-40B4-BE49-F238E27FC236}">
                <a16:creationId xmlns:a16="http://schemas.microsoft.com/office/drawing/2014/main" id="{B62838C2-76A2-4942-ABC9-062E93D9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67300"/>
            <a:ext cx="471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Проверка спроса с кампусами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defRPr>
            </a:pPr>
            <a:r>
              <a:rPr sz="2100" b="0" i="0">
                <a:solidFill>
                  <a:srgbClr val="153D3B"/>
                </a:solidFill>
                <a:latin typeface="Segoe UI"/>
                <a:ea typeface="Segoe UI"/>
                <a:cs typeface="Segoe UI"/>
              </a:rPr>
              <a:t>и местами размещения гостей</a:t>
            </a:r>
          </a:p>
        </p:txBody>
      </p:sp>
      <p:sp>
        <p:nvSpPr>
          <p:cNvPr id="19" name="Репозиторий: github.com/Azalytical/">
            <a:extLst xmlns:a="http://schemas.openxmlformats.org/drawingml/2006/main">
              <a:ext uri="{FF2B5EF4-FFF2-40B4-BE49-F238E27FC236}">
                <a16:creationId xmlns:a16="http://schemas.microsoft.com/office/drawing/2014/main" id="{29BACC1B-FBF5-4000-9397-E4C4D890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Репозиторий: github.com/Azalytical/ascension-smartwalk</a:t>
            </a:r>
          </a:p>
        </p:txBody>
      </p:sp>
      <p:sp>
        <p:nvSpPr>
          <p:cNvPr id="20" name="Демо: ascension-smartwalk-astana.az">
            <a:extLst xmlns:a="http://schemas.openxmlformats.org/drawingml/2006/main">
              <a:ext uri="{FF2B5EF4-FFF2-40B4-BE49-F238E27FC236}">
                <a16:creationId xmlns:a16="http://schemas.microsoft.com/office/drawing/2014/main" id="{EBD39212-0C60-42E7-9CFA-DB6BAF71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52716B"/>
                </a:solidFill>
                <a:latin typeface="Segoe UI"/>
                <a:ea typeface="Segoe UI"/>
                <a:cs typeface="Segoe UI"/>
              </a:rPr>
              <a:t>Демо: ascension-smartwalk.azamatbreach.workers.dev</a:t>
            </a:r>
          </a:p>
        </p:txBody>
      </p:sp>
    </p:spTree>
    <p:extLst>
      <p:ext uri="{BB962C8B-B14F-4D97-AF65-F5344CB8AC3E}">
        <p14:creationId xmlns:p14="http://schemas.microsoft.com/office/powerpoint/2010/main" val="1417498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2026-10-19T11:50:13.6330000Z</dcterms:created>
  <dcterms:modified xsi:type="dcterms:W3CDTF">2026-10-19T11:50:13.6340000Z</dcterms:modified>
</coreProperties>
</file>